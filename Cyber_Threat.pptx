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9144000" cy="16256000"/>
  <p:embeddedFontLst>
    <p:embeddedFont>
      <p:font typeface="Agency FB" panose="020B0503020202020204" pitchFamily="34" charset="0"/>
      <p:regular r:id="rId14"/>
      <p:bold r:id="rId15"/>
    </p:embeddedFont>
    <p:embeddedFont>
      <p:font typeface="Algerian" panose="04020705040A02060702" pitchFamily="82" charset="0"/>
      <p:regular r:id="rId16"/>
    </p:embeddedFont>
    <p:embeddedFont>
      <p:font typeface="Inter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17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learn.microsoft.com/en-us/power-query/power-query-what-is-power-quer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guijas/vcdb-dataset" TargetMode="External"/><Relationship Id="rId5" Type="http://schemas.openxmlformats.org/officeDocument/2006/relationships/hyperlink" Target="https://verisframework.org/vcdb.html" TargetMode="Externa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header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cover-internship"/>
          <p:cNvSpPr/>
          <p:nvPr/>
        </p:nvSpPr>
        <p:spPr>
          <a:xfrm>
            <a:off x="660400" y="381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</a:t>
            </a:r>
            <a:endParaRPr lang="en-US" sz="2000" dirty="0"/>
          </a:p>
        </p:txBody>
      </p:sp>
      <p:sp>
        <p:nvSpPr>
          <p:cNvPr id="4" name="cover-org"/>
          <p:cNvSpPr/>
          <p:nvPr/>
        </p:nvSpPr>
        <p:spPr>
          <a:xfrm>
            <a:off x="9652000" y="355600"/>
            <a:ext cx="5943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800" dirty="0">
                <a:solidFill>
                  <a:srgbClr val="1E6F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 |  Springboard</a:t>
            </a:r>
            <a:endParaRPr lang="en-US" sz="1800" dirty="0"/>
          </a:p>
        </p:txBody>
      </p:sp>
      <p:sp>
        <p:nvSpPr>
          <p:cNvPr id="5" name="cover-glow"/>
          <p:cNvSpPr/>
          <p:nvPr/>
        </p:nvSpPr>
        <p:spPr>
          <a:xfrm>
            <a:off x="12827000" y="1905000"/>
            <a:ext cx="2794000" cy="2794000"/>
          </a:xfrm>
          <a:prstGeom prst="ellipse">
            <a:avLst/>
          </a:prstGeom>
          <a:solidFill>
            <a:srgbClr val="00E5FF">
              <a:alpha val="3000"/>
            </a:srgbClr>
          </a:solidFill>
          <a:ln/>
        </p:spPr>
      </p:sp>
      <p:sp>
        <p:nvSpPr>
          <p:cNvPr id="6" name="cover-title"/>
          <p:cNvSpPr/>
          <p:nvPr/>
        </p:nvSpPr>
        <p:spPr>
          <a:xfrm>
            <a:off x="1524000" y="2667000"/>
            <a:ext cx="1320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ts val="5428"/>
              </a:lnSpc>
            </a:pPr>
            <a:r>
              <a:rPr lang="en-IN" sz="3600" b="1" dirty="0">
                <a:solidFill>
                  <a:schemeClr val="bg1">
                    <a:lumMod val="75000"/>
                  </a:schemeClr>
                </a:solidFill>
                <a:latin typeface="Algerian" panose="04020705040A02060702" pitchFamily="82" charset="0"/>
              </a:rPr>
              <a:t>Cyber Threat Analytics Platform with Incident Visualization System</a:t>
            </a:r>
          </a:p>
        </p:txBody>
      </p:sp>
      <p:sp>
        <p:nvSpPr>
          <p:cNvPr id="7" name="cover-underline"/>
          <p:cNvSpPr/>
          <p:nvPr/>
        </p:nvSpPr>
        <p:spPr>
          <a:xfrm>
            <a:off x="6667500" y="5016500"/>
            <a:ext cx="2921000" cy="9144"/>
          </a:xfrm>
          <a:prstGeom prst="line">
            <a:avLst/>
          </a:prstGeom>
          <a:ln w="50800">
            <a:solidFill>
              <a:srgbClr val="00E5FF"/>
            </a:solidFill>
            <a:prstDash val="solid"/>
          </a:ln>
        </p:spPr>
      </p:sp>
      <p:sp>
        <p:nvSpPr>
          <p:cNvPr id="8" name="cover-presented"/>
          <p:cNvSpPr/>
          <p:nvPr/>
        </p:nvSpPr>
        <p:spPr>
          <a:xfrm>
            <a:off x="2794000" y="53975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Tejasri Lakshmi</a:t>
            </a:r>
            <a:endParaRPr lang="en-US" sz="2100" dirty="0"/>
          </a:p>
        </p:txBody>
      </p:sp>
      <p:sp>
        <p:nvSpPr>
          <p:cNvPr id="9" name="cover-internship-org"/>
          <p:cNvSpPr/>
          <p:nvPr/>
        </p:nvSpPr>
        <p:spPr>
          <a:xfrm>
            <a:off x="2794000" y="58420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B6C6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  |  Infosys Springboard</a:t>
            </a:r>
            <a:endParaRPr lang="en-US" sz="1800" dirty="0"/>
          </a:p>
        </p:txBody>
      </p:sp>
      <p:sp>
        <p:nvSpPr>
          <p:cNvPr id="10" name="cover-mentor"/>
          <p:cNvSpPr/>
          <p:nvPr/>
        </p:nvSpPr>
        <p:spPr>
          <a:xfrm>
            <a:off x="2794000" y="62865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B6C6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 NityaSree</a:t>
            </a:r>
            <a:endParaRPr lang="en-US" sz="1800" dirty="0"/>
          </a:p>
        </p:txBody>
      </p:sp>
      <p:sp>
        <p:nvSpPr>
          <p:cNvPr id="11" name="cover-pill"/>
          <p:cNvSpPr/>
          <p:nvPr/>
        </p:nvSpPr>
        <p:spPr>
          <a:xfrm>
            <a:off x="6375400" y="6959600"/>
            <a:ext cx="3505200" cy="533400"/>
          </a:xfrm>
          <a:prstGeom prst="roundRect">
            <a:avLst>
              <a:gd name="adj" fmla="val 50000"/>
            </a:avLst>
          </a:prstGeom>
          <a:solidFill>
            <a:srgbClr val="0F2C4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cover-pill-text"/>
          <p:cNvSpPr/>
          <p:nvPr/>
        </p:nvSpPr>
        <p:spPr>
          <a:xfrm>
            <a:off x="6375400" y="6959600"/>
            <a:ext cx="35052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-title-rule"/>
          <p:cNvSpPr/>
          <p:nvPr/>
        </p:nvSpPr>
        <p:spPr>
          <a:xfrm>
            <a:off x="863600" y="10922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obj-title"/>
          <p:cNvSpPr/>
          <p:nvPr/>
        </p:nvSpPr>
        <p:spPr>
          <a:xfrm>
            <a:off x="1117600" y="1041400"/>
            <a:ext cx="914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obj-subtitle"/>
          <p:cNvSpPr/>
          <p:nvPr/>
        </p:nvSpPr>
        <p:spPr>
          <a:xfrm>
            <a:off x="1117600" y="1549400"/>
            <a:ext cx="134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A9C1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framework for turning incident records into security intelligence.</a:t>
            </a:r>
            <a:endParaRPr lang="en-US" sz="1500" dirty="0"/>
          </a:p>
        </p:txBody>
      </p:sp>
      <p:sp>
        <p:nvSpPr>
          <p:cNvPr id="5" name="obj-card-1"/>
          <p:cNvSpPr/>
          <p:nvPr/>
        </p:nvSpPr>
        <p:spPr>
          <a:xfrm>
            <a:off x="889000" y="2222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obj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552700"/>
            <a:ext cx="482600" cy="482600"/>
          </a:xfrm>
          <a:prstGeom prst="rect">
            <a:avLst/>
          </a:prstGeom>
        </p:spPr>
      </p:pic>
      <p:sp>
        <p:nvSpPr>
          <p:cNvPr id="7" name="obj-head-1"/>
          <p:cNvSpPr/>
          <p:nvPr/>
        </p:nvSpPr>
        <p:spPr>
          <a:xfrm>
            <a:off x="1905000" y="2451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and classify cyber threats</a:t>
            </a:r>
            <a:endParaRPr lang="en-US" sz="2000" dirty="0"/>
          </a:p>
        </p:txBody>
      </p:sp>
      <p:sp>
        <p:nvSpPr>
          <p:cNvPr id="8" name="obj-desc-1"/>
          <p:cNvSpPr/>
          <p:nvPr/>
        </p:nvSpPr>
        <p:spPr>
          <a:xfrm>
            <a:off x="1905000" y="2946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malicious incident patterns and organize events by attack type, actor, motive, asset, and severity.</a:t>
            </a:r>
            <a:endParaRPr lang="en-US" sz="1600" dirty="0"/>
          </a:p>
        </p:txBody>
      </p:sp>
      <p:sp>
        <p:nvSpPr>
          <p:cNvPr id="9" name="obj-card-2"/>
          <p:cNvSpPr/>
          <p:nvPr/>
        </p:nvSpPr>
        <p:spPr>
          <a:xfrm>
            <a:off x="8255000" y="2222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0" name="obj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00" y="2552700"/>
            <a:ext cx="482600" cy="482600"/>
          </a:xfrm>
          <a:prstGeom prst="rect">
            <a:avLst/>
          </a:prstGeom>
        </p:spPr>
      </p:pic>
      <p:sp>
        <p:nvSpPr>
          <p:cNvPr id="11" name="obj-head-2"/>
          <p:cNvSpPr/>
          <p:nvPr/>
        </p:nvSpPr>
        <p:spPr>
          <a:xfrm>
            <a:off x="9271000" y="2451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prepare incident data</a:t>
            </a:r>
            <a:endParaRPr lang="en-US" sz="2000" dirty="0"/>
          </a:p>
        </p:txBody>
      </p:sp>
      <p:sp>
        <p:nvSpPr>
          <p:cNvPr id="12" name="obj-desc-2"/>
          <p:cNvSpPr/>
          <p:nvPr/>
        </p:nvSpPr>
        <p:spPr>
          <a:xfrm>
            <a:off x="9271000" y="2946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missing months, motives, actor varieties, countries, and other fields without losing records.</a:t>
            </a:r>
            <a:endParaRPr lang="en-US" sz="1600" dirty="0"/>
          </a:p>
        </p:txBody>
      </p:sp>
      <p:sp>
        <p:nvSpPr>
          <p:cNvPr id="13" name="obj-card-3"/>
          <p:cNvSpPr/>
          <p:nvPr/>
        </p:nvSpPr>
        <p:spPr>
          <a:xfrm>
            <a:off x="889000" y="4381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4" name="obj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4711700"/>
            <a:ext cx="482600" cy="482600"/>
          </a:xfrm>
          <a:prstGeom prst="rect">
            <a:avLst/>
          </a:prstGeom>
        </p:spPr>
      </p:pic>
      <p:sp>
        <p:nvSpPr>
          <p:cNvPr id="15" name="obj-head-3"/>
          <p:cNvSpPr/>
          <p:nvPr/>
        </p:nvSpPr>
        <p:spPr>
          <a:xfrm>
            <a:off x="1905000" y="4610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security intelligence</a:t>
            </a:r>
            <a:endParaRPr lang="en-US" sz="2000" dirty="0"/>
          </a:p>
        </p:txBody>
      </p:sp>
      <p:sp>
        <p:nvSpPr>
          <p:cNvPr id="16" name="obj-desc-3"/>
          <p:cNvSpPr/>
          <p:nvPr/>
        </p:nvSpPr>
        <p:spPr>
          <a:xfrm>
            <a:off x="1905000" y="5105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complex incident data into dashboards, charts, timelines, maps, and comparisons for rapid interpretation.</a:t>
            </a:r>
            <a:endParaRPr lang="en-US" sz="1600" dirty="0"/>
          </a:p>
        </p:txBody>
      </p:sp>
      <p:sp>
        <p:nvSpPr>
          <p:cNvPr id="17" name="obj-card-4"/>
          <p:cNvSpPr/>
          <p:nvPr/>
        </p:nvSpPr>
        <p:spPr>
          <a:xfrm>
            <a:off x="8255000" y="4381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8" name="obj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800" y="4711700"/>
            <a:ext cx="482600" cy="482600"/>
          </a:xfrm>
          <a:prstGeom prst="rect">
            <a:avLst/>
          </a:prstGeom>
        </p:spPr>
      </p:pic>
      <p:sp>
        <p:nvSpPr>
          <p:cNvPr id="19" name="obj-head-4"/>
          <p:cNvSpPr/>
          <p:nvPr/>
        </p:nvSpPr>
        <p:spPr>
          <a:xfrm>
            <a:off x="9271000" y="4610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faster incident response</a:t>
            </a:r>
            <a:endParaRPr lang="en-US" sz="2000" dirty="0"/>
          </a:p>
        </p:txBody>
      </p:sp>
      <p:sp>
        <p:nvSpPr>
          <p:cNvPr id="20" name="obj-desc-4"/>
          <p:cNvSpPr/>
          <p:nvPr/>
        </p:nvSpPr>
        <p:spPr>
          <a:xfrm>
            <a:off x="9271000" y="5105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high-risk patterns and actionable insights so analysts can prioritize investigation and mitigation.</a:t>
            </a:r>
            <a:endParaRPr lang="en-US" sz="1600" dirty="0"/>
          </a:p>
        </p:txBody>
      </p:sp>
      <p:sp>
        <p:nvSpPr>
          <p:cNvPr id="21" name="obj-stats"/>
          <p:cNvSpPr/>
          <p:nvPr/>
        </p:nvSpPr>
        <p:spPr>
          <a:xfrm>
            <a:off x="889000" y="7429500"/>
            <a:ext cx="14478000" cy="736600"/>
          </a:xfrm>
          <a:prstGeom prst="roundRect">
            <a:avLst>
              <a:gd name="adj" fmla="val 1379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22" name="obj-stats-text"/>
          <p:cNvSpPr/>
          <p:nvPr/>
        </p:nvSpPr>
        <p:spPr>
          <a:xfrm>
            <a:off x="1168400" y="7429500"/>
            <a:ext cx="139192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10,229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   |   </a:t>
            </a: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   |   </a:t>
            </a: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141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countries represented in the analyzed dashboards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sc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desc-title"/>
          <p:cNvSpPr/>
          <p:nvPr/>
        </p:nvSpPr>
        <p:spPr>
          <a:xfrm>
            <a:off x="1117600" y="939800"/>
            <a:ext cx="914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4" name="desc-intro"/>
          <p:cNvSpPr/>
          <p:nvPr/>
        </p:nvSpPr>
        <p:spPr>
          <a:xfrm>
            <a:off x="1117600" y="1498600"/>
            <a:ext cx="132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repeatable framework that connects cybersecurity analytics, data preparation, machine-learning readiness, and dashboard design.</a:t>
            </a:r>
            <a:endParaRPr lang="en-US" sz="1700" dirty="0"/>
          </a:p>
        </p:txBody>
      </p:sp>
      <p:sp>
        <p:nvSpPr>
          <p:cNvPr id="5" name="desc-module-1"/>
          <p:cNvSpPr/>
          <p:nvPr/>
        </p:nvSpPr>
        <p:spPr>
          <a:xfrm>
            <a:off x="889000" y="22606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6" name="desc-m1"/>
          <p:cNvSpPr/>
          <p:nvPr/>
        </p:nvSpPr>
        <p:spPr>
          <a:xfrm>
            <a:off x="1117600" y="23622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Problem Understanding: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the threat-analysis questions and decisions the dashboards must support.</a:t>
            </a:r>
            <a:endParaRPr lang="en-US" sz="1500" dirty="0"/>
          </a:p>
        </p:txBody>
      </p:sp>
      <p:sp>
        <p:nvSpPr>
          <p:cNvPr id="7" name="desc-module-2"/>
          <p:cNvSpPr/>
          <p:nvPr/>
        </p:nvSpPr>
        <p:spPr>
          <a:xfrm>
            <a:off x="889000" y="31750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8" name="desc-m2"/>
          <p:cNvSpPr/>
          <p:nvPr/>
        </p:nvSpPr>
        <p:spPr>
          <a:xfrm>
            <a:off x="1117600" y="32766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Data Collection: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VERIS Community Database dataset sourced through Kaggle.</a:t>
            </a:r>
            <a:endParaRPr lang="en-US" sz="1500" dirty="0"/>
          </a:p>
        </p:txBody>
      </p:sp>
      <p:sp>
        <p:nvSpPr>
          <p:cNvPr id="9" name="desc-module-3"/>
          <p:cNvSpPr/>
          <p:nvPr/>
        </p:nvSpPr>
        <p:spPr>
          <a:xfrm>
            <a:off x="889000" y="40894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0" name="desc-m3"/>
          <p:cNvSpPr/>
          <p:nvPr/>
        </p:nvSpPr>
        <p:spPr>
          <a:xfrm>
            <a:off x="1117600" y="41910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Data Connection: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Bring incident records into the workflow and establish the source baseline.</a:t>
            </a:r>
            <a:endParaRPr lang="en-US" sz="1500" dirty="0"/>
          </a:p>
        </p:txBody>
      </p:sp>
      <p:sp>
        <p:nvSpPr>
          <p:cNvPr id="11" name="desc-module-4"/>
          <p:cNvSpPr/>
          <p:nvPr/>
        </p:nvSpPr>
        <p:spPr>
          <a:xfrm>
            <a:off x="889000" y="50038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2" name="desc-m4"/>
          <p:cNvSpPr/>
          <p:nvPr/>
        </p:nvSpPr>
        <p:spPr>
          <a:xfrm>
            <a:off x="1117600" y="51054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 — Data Preprocessing: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Clean nulls, harmonize categories, cast types, and create conditional fields.</a:t>
            </a:r>
            <a:endParaRPr lang="en-US" sz="1500" dirty="0"/>
          </a:p>
        </p:txBody>
      </p:sp>
      <p:sp>
        <p:nvSpPr>
          <p:cNvPr id="13" name="desc-module-5"/>
          <p:cNvSpPr/>
          <p:nvPr/>
        </p:nvSpPr>
        <p:spPr>
          <a:xfrm>
            <a:off x="889000" y="59182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4" name="desc-m5"/>
          <p:cNvSpPr/>
          <p:nvPr/>
        </p:nvSpPr>
        <p:spPr>
          <a:xfrm>
            <a:off x="1117600" y="60198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5 — Data Modeling: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Organize threat vectors across actor, action, asset, motive, country, and time.</a:t>
            </a:r>
            <a:endParaRPr lang="en-US" sz="1500" dirty="0"/>
          </a:p>
        </p:txBody>
      </p:sp>
      <p:sp>
        <p:nvSpPr>
          <p:cNvPr id="15" name="desc-module-6"/>
          <p:cNvSpPr/>
          <p:nvPr/>
        </p:nvSpPr>
        <p:spPr>
          <a:xfrm>
            <a:off x="889000" y="68326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6" name="desc-m6"/>
          <p:cNvSpPr/>
          <p:nvPr/>
        </p:nvSpPr>
        <p:spPr>
          <a:xfrm>
            <a:off x="1117600" y="69342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6 — Data Visualization: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Publish dashboards for incident analytics, threat patterns, vulnerability, and severity.</a:t>
            </a:r>
            <a:endParaRPr lang="en-US" sz="1500" dirty="0"/>
          </a:p>
        </p:txBody>
      </p:sp>
      <p:sp>
        <p:nvSpPr>
          <p:cNvPr id="17" name="desc-red-tab"/>
          <p:cNvSpPr/>
          <p:nvPr/>
        </p:nvSpPr>
        <p:spPr>
          <a:xfrm>
            <a:off x="14757400" y="0"/>
            <a:ext cx="660400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desc-panel"/>
          <p:cNvSpPr/>
          <p:nvPr/>
        </p:nvSpPr>
        <p:spPr>
          <a:xfrm>
            <a:off x="9588500" y="2235200"/>
            <a:ext cx="5588000" cy="5943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9" name="desc-side-heading"/>
          <p:cNvSpPr/>
          <p:nvPr/>
        </p:nvSpPr>
        <p:spPr>
          <a:xfrm>
            <a:off x="9081770" y="18796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2000" dirty="0"/>
          </a:p>
        </p:txBody>
      </p:sp>
      <p:sp>
        <p:nvSpPr>
          <p:cNvPr id="20" name="desc-side-heading-rule"/>
          <p:cNvSpPr/>
          <p:nvPr/>
        </p:nvSpPr>
        <p:spPr>
          <a:xfrm>
            <a:off x="11874500" y="2032000"/>
            <a:ext cx="2667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pic>
        <p:nvPicPr>
          <p:cNvPr id="21" name="workflow-original" descr="preencoded.png"/>
          <p:cNvPicPr>
            <a:picLocks noChangeAspect="1"/>
          </p:cNvPicPr>
          <p:nvPr/>
        </p:nvPicPr>
        <p:blipFill>
          <a:blip r:embed="rId3"/>
          <a:srcRect l="-2176" r="-2176"/>
          <a:stretch/>
        </p:blipFill>
        <p:spPr>
          <a:xfrm>
            <a:off x="10020300" y="2413000"/>
            <a:ext cx="47244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z-header"/>
          <p:cNvSpPr/>
          <p:nvPr/>
        </p:nvSpPr>
        <p:spPr>
          <a:xfrm>
            <a:off x="0" y="0"/>
            <a:ext cx="16256000" cy="1346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viz-red-tab"/>
          <p:cNvSpPr/>
          <p:nvPr/>
        </p:nvSpPr>
        <p:spPr>
          <a:xfrm>
            <a:off x="14757400" y="0"/>
            <a:ext cx="660400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viz-title-rule"/>
          <p:cNvSpPr/>
          <p:nvPr/>
        </p:nvSpPr>
        <p:spPr>
          <a:xfrm>
            <a:off x="863600" y="4572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5" name="viz-title"/>
          <p:cNvSpPr/>
          <p:nvPr/>
        </p:nvSpPr>
        <p:spPr>
          <a:xfrm>
            <a:off x="1117600" y="381000"/>
            <a:ext cx="1117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Visualizations / Components Used</a:t>
            </a:r>
            <a:endParaRPr lang="en-US" sz="3000" dirty="0"/>
          </a:p>
        </p:txBody>
      </p:sp>
      <p:sp>
        <p:nvSpPr>
          <p:cNvPr id="6" name="viz-subtitle"/>
          <p:cNvSpPr/>
          <p:nvPr/>
        </p:nvSpPr>
        <p:spPr>
          <a:xfrm>
            <a:off x="1117600" y="9398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views used to move from incident volume to actionable threat insight.</a:t>
            </a:r>
            <a:endParaRPr lang="en-US" sz="1400" dirty="0"/>
          </a:p>
        </p:txBody>
      </p:sp>
      <p:sp>
        <p:nvSpPr>
          <p:cNvPr id="7" name="viz-col-head"/>
          <p:cNvSpPr/>
          <p:nvPr/>
        </p:nvSpPr>
        <p:spPr>
          <a:xfrm>
            <a:off x="889000" y="1727200"/>
            <a:ext cx="14478000" cy="533400"/>
          </a:xfrm>
          <a:prstGeom prst="roundRect">
            <a:avLst>
              <a:gd name="adj" fmla="val 14286"/>
            </a:avLst>
          </a:prstGeom>
          <a:solidFill>
            <a:srgbClr val="0F6176"/>
          </a:solidFill>
          <a:ln/>
        </p:spPr>
      </p:sp>
      <p:sp>
        <p:nvSpPr>
          <p:cNvPr id="8" name="viz-col-1"/>
          <p:cNvSpPr/>
          <p:nvPr/>
        </p:nvSpPr>
        <p:spPr>
          <a:xfrm>
            <a:off x="1168400" y="17272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Type</a:t>
            </a:r>
            <a:endParaRPr lang="en-US" sz="1600" dirty="0"/>
          </a:p>
        </p:txBody>
      </p:sp>
      <p:sp>
        <p:nvSpPr>
          <p:cNvPr id="9" name="viz-col-2"/>
          <p:cNvSpPr/>
          <p:nvPr/>
        </p:nvSpPr>
        <p:spPr>
          <a:xfrm>
            <a:off x="4318000" y="1727200"/>
            <a:ext cx="876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 / What It Shows</a:t>
            </a:r>
            <a:endParaRPr lang="en-US" sz="1600" dirty="0"/>
          </a:p>
        </p:txBody>
      </p:sp>
      <p:sp>
        <p:nvSpPr>
          <p:cNvPr id="10" name="viz-col-3"/>
          <p:cNvSpPr/>
          <p:nvPr/>
        </p:nvSpPr>
        <p:spPr>
          <a:xfrm>
            <a:off x="13716000" y="1727200"/>
            <a:ext cx="12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</a:t>
            </a:r>
            <a:endParaRPr lang="en-US" sz="1600" dirty="0"/>
          </a:p>
        </p:txBody>
      </p:sp>
      <p:sp>
        <p:nvSpPr>
          <p:cNvPr id="11" name="viz-row-1"/>
          <p:cNvSpPr/>
          <p:nvPr/>
        </p:nvSpPr>
        <p:spPr>
          <a:xfrm>
            <a:off x="889000" y="23876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12" name="viz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0" y="2514600"/>
            <a:ext cx="431800" cy="431800"/>
          </a:xfrm>
          <a:prstGeom prst="rect">
            <a:avLst/>
          </a:prstGeom>
        </p:spPr>
      </p:pic>
      <p:sp>
        <p:nvSpPr>
          <p:cNvPr id="13" name="viz-type-1"/>
          <p:cNvSpPr/>
          <p:nvPr/>
        </p:nvSpPr>
        <p:spPr>
          <a:xfrm>
            <a:off x="1168400" y="23876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analytics dashboard</a:t>
            </a:r>
            <a:endParaRPr lang="en-US" sz="1600" dirty="0"/>
          </a:p>
        </p:txBody>
      </p:sp>
      <p:sp>
        <p:nvSpPr>
          <p:cNvPr id="14" name="viz-purpose-1"/>
          <p:cNvSpPr/>
          <p:nvPr/>
        </p:nvSpPr>
        <p:spPr>
          <a:xfrm>
            <a:off x="4318000" y="23876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volume, attack types, countries, and major incident indicators.</a:t>
            </a:r>
            <a:endParaRPr lang="en-US" sz="1500" dirty="0"/>
          </a:p>
        </p:txBody>
      </p:sp>
      <p:sp>
        <p:nvSpPr>
          <p:cNvPr id="15" name="viz-row-2"/>
          <p:cNvSpPr/>
          <p:nvPr/>
        </p:nvSpPr>
        <p:spPr>
          <a:xfrm>
            <a:off x="889000" y="32004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16" name="viz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3327400"/>
            <a:ext cx="431800" cy="431800"/>
          </a:xfrm>
          <a:prstGeom prst="rect">
            <a:avLst/>
          </a:prstGeom>
        </p:spPr>
      </p:pic>
      <p:sp>
        <p:nvSpPr>
          <p:cNvPr id="17" name="viz-type-2"/>
          <p:cNvSpPr/>
          <p:nvPr/>
        </p:nvSpPr>
        <p:spPr>
          <a:xfrm>
            <a:off x="1168400" y="32004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analysis view</a:t>
            </a:r>
            <a:endParaRPr lang="en-US" sz="1600" dirty="0"/>
          </a:p>
        </p:txBody>
      </p:sp>
      <p:sp>
        <p:nvSpPr>
          <p:cNvPr id="18" name="viz-purpose-2"/>
          <p:cNvSpPr/>
          <p:nvPr/>
        </p:nvSpPr>
        <p:spPr>
          <a:xfrm>
            <a:off x="4318000" y="32004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trends, severity distribution, and filterable threat categories.</a:t>
            </a:r>
            <a:endParaRPr lang="en-US" sz="1500" dirty="0"/>
          </a:p>
        </p:txBody>
      </p:sp>
      <p:sp>
        <p:nvSpPr>
          <p:cNvPr id="19" name="viz-row-3"/>
          <p:cNvSpPr/>
          <p:nvPr/>
        </p:nvSpPr>
        <p:spPr>
          <a:xfrm>
            <a:off x="889000" y="40132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20" name="viz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0" y="4140200"/>
            <a:ext cx="431800" cy="431800"/>
          </a:xfrm>
          <a:prstGeom prst="rect">
            <a:avLst/>
          </a:prstGeom>
        </p:spPr>
      </p:pic>
      <p:sp>
        <p:nvSpPr>
          <p:cNvPr id="21" name="viz-type-3"/>
          <p:cNvSpPr/>
          <p:nvPr/>
        </p:nvSpPr>
        <p:spPr>
          <a:xfrm>
            <a:off x="1168400" y="40132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 and actor intelligence</a:t>
            </a:r>
            <a:endParaRPr lang="en-US" sz="1600" dirty="0"/>
          </a:p>
        </p:txBody>
      </p:sp>
      <p:sp>
        <p:nvSpPr>
          <p:cNvPr id="22" name="viz-purpose-3"/>
          <p:cNvSpPr/>
          <p:nvPr/>
        </p:nvSpPr>
        <p:spPr>
          <a:xfrm>
            <a:off x="4318000" y="40132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types, geographic distribution, and responsible profiles.</a:t>
            </a:r>
            <a:endParaRPr lang="en-US" sz="1500" dirty="0"/>
          </a:p>
        </p:txBody>
      </p:sp>
      <p:sp>
        <p:nvSpPr>
          <p:cNvPr id="23" name="viz-row-4"/>
          <p:cNvSpPr/>
          <p:nvPr/>
        </p:nvSpPr>
        <p:spPr>
          <a:xfrm>
            <a:off x="889000" y="48260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24" name="viz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0" y="4953000"/>
            <a:ext cx="431800" cy="431800"/>
          </a:xfrm>
          <a:prstGeom prst="rect">
            <a:avLst/>
          </a:prstGeom>
        </p:spPr>
      </p:pic>
      <p:sp>
        <p:nvSpPr>
          <p:cNvPr id="25" name="viz-type-4"/>
          <p:cNvSpPr/>
          <p:nvPr/>
        </p:nvSpPr>
        <p:spPr>
          <a:xfrm>
            <a:off x="1168400" y="48260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and asset vulnerability</a:t>
            </a:r>
            <a:endParaRPr lang="en-US" sz="1600" dirty="0"/>
          </a:p>
        </p:txBody>
      </p:sp>
      <p:sp>
        <p:nvSpPr>
          <p:cNvPr id="26" name="viz-purpose-4"/>
          <p:cNvSpPr/>
          <p:nvPr/>
        </p:nvSpPr>
        <p:spPr>
          <a:xfrm>
            <a:off x="4318000" y="48260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assets, attack details, and vulnerable surfaces.</a:t>
            </a:r>
            <a:endParaRPr lang="en-US" sz="1500" dirty="0"/>
          </a:p>
        </p:txBody>
      </p:sp>
      <p:sp>
        <p:nvSpPr>
          <p:cNvPr id="27" name="viz-row-5"/>
          <p:cNvSpPr/>
          <p:nvPr/>
        </p:nvSpPr>
        <p:spPr>
          <a:xfrm>
            <a:off x="889000" y="56388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28" name="viz-icon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0" y="5765800"/>
            <a:ext cx="431800" cy="431800"/>
          </a:xfrm>
          <a:prstGeom prst="rect">
            <a:avLst/>
          </a:prstGeom>
        </p:spPr>
      </p:pic>
      <p:sp>
        <p:nvSpPr>
          <p:cNvPr id="29" name="viz-type-5"/>
          <p:cNvSpPr/>
          <p:nvPr/>
        </p:nvSpPr>
        <p:spPr>
          <a:xfrm>
            <a:off x="1168400" y="56388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and incident severity</a:t>
            </a:r>
            <a:endParaRPr lang="en-US" sz="1600" dirty="0"/>
          </a:p>
        </p:txBody>
      </p:sp>
      <p:sp>
        <p:nvSpPr>
          <p:cNvPr id="30" name="viz-purpose-5"/>
          <p:cNvSpPr/>
          <p:nvPr/>
        </p:nvSpPr>
        <p:spPr>
          <a:xfrm>
            <a:off x="4318000" y="56388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patterns across attacks, assets, environments, and time.</a:t>
            </a:r>
            <a:endParaRPr lang="en-US" sz="1500" dirty="0"/>
          </a:p>
        </p:txBody>
      </p:sp>
      <p:sp>
        <p:nvSpPr>
          <p:cNvPr id="31" name="viz-row-6"/>
          <p:cNvSpPr/>
          <p:nvPr/>
        </p:nvSpPr>
        <p:spPr>
          <a:xfrm>
            <a:off x="889000" y="64516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32" name="viz-icon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0" y="6578600"/>
            <a:ext cx="431800" cy="431800"/>
          </a:xfrm>
          <a:prstGeom prst="rect">
            <a:avLst/>
          </a:prstGeom>
        </p:spPr>
      </p:pic>
      <p:sp>
        <p:nvSpPr>
          <p:cNvPr id="33" name="viz-type-6"/>
          <p:cNvSpPr/>
          <p:nvPr/>
        </p:nvSpPr>
        <p:spPr>
          <a:xfrm>
            <a:off x="1168400" y="64516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pattern deep dive</a:t>
            </a:r>
            <a:endParaRPr lang="en-US" sz="1600" dirty="0"/>
          </a:p>
        </p:txBody>
      </p:sp>
      <p:sp>
        <p:nvSpPr>
          <p:cNvPr id="34" name="viz-purpose-6"/>
          <p:cNvSpPr/>
          <p:nvPr/>
        </p:nvSpPr>
        <p:spPr>
          <a:xfrm>
            <a:off x="4318000" y="64516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Motive, asset, application, and peak-period relationships.</a:t>
            </a:r>
            <a:endParaRPr lang="en-US" sz="1500" dirty="0"/>
          </a:p>
        </p:txBody>
      </p:sp>
      <p:sp>
        <p:nvSpPr>
          <p:cNvPr id="35" name="viz-row-7"/>
          <p:cNvSpPr/>
          <p:nvPr/>
        </p:nvSpPr>
        <p:spPr>
          <a:xfrm>
            <a:off x="889000" y="72644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36" name="viz-icon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97000" y="7391400"/>
            <a:ext cx="431800" cy="431800"/>
          </a:xfrm>
          <a:prstGeom prst="rect">
            <a:avLst/>
          </a:prstGeom>
        </p:spPr>
      </p:pic>
      <p:sp>
        <p:nvSpPr>
          <p:cNvPr id="37" name="viz-type-7"/>
          <p:cNvSpPr/>
          <p:nvPr/>
        </p:nvSpPr>
        <p:spPr>
          <a:xfrm>
            <a:off x="1168400" y="72644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pattern analysis</a:t>
            </a:r>
            <a:endParaRPr lang="en-US" sz="1600" dirty="0"/>
          </a:p>
        </p:txBody>
      </p:sp>
      <p:sp>
        <p:nvSpPr>
          <p:cNvPr id="38" name="viz-purpose-7"/>
          <p:cNvSpPr/>
          <p:nvPr/>
        </p:nvSpPr>
        <p:spPr>
          <a:xfrm>
            <a:off x="4318000" y="72644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trend changes, dominant techniques, and external-asset exposure.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le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mile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Execution Milestones</a:t>
            </a:r>
            <a:endParaRPr lang="en-US" sz="3000" dirty="0"/>
          </a:p>
        </p:txBody>
      </p:sp>
      <p:sp>
        <p:nvSpPr>
          <p:cNvPr id="4" name="mile-intro"/>
          <p:cNvSpPr/>
          <p:nvPr/>
        </p:nvSpPr>
        <p:spPr>
          <a:xfrm>
            <a:off x="1117600" y="1498600"/>
            <a:ext cx="134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was executed through four structured milestones to ensure systematic progress, traceability, and analytical accuracy.</a:t>
            </a:r>
            <a:endParaRPr lang="en-US" sz="1700" dirty="0"/>
          </a:p>
        </p:txBody>
      </p:sp>
      <p:sp>
        <p:nvSpPr>
          <p:cNvPr id="5" name="mile-source"/>
          <p:cNvSpPr/>
          <p:nvPr/>
        </p:nvSpPr>
        <p:spPr>
          <a:xfrm>
            <a:off x="1117600" y="1968500"/>
            <a:ext cx="14020800" cy="889000"/>
          </a:xfrm>
          <a:prstGeom prst="roundRect">
            <a:avLst>
              <a:gd name="adj" fmla="val 11429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mile-sourc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197100"/>
            <a:ext cx="431800" cy="431800"/>
          </a:xfrm>
          <a:prstGeom prst="rect">
            <a:avLst/>
          </a:prstGeom>
        </p:spPr>
      </p:pic>
      <p:sp>
        <p:nvSpPr>
          <p:cNvPr id="7" name="mile-source-text"/>
          <p:cNvSpPr/>
          <p:nvPr/>
        </p:nvSpPr>
        <p:spPr>
          <a:xfrm>
            <a:off x="2032000" y="2032000"/>
            <a:ext cx="1282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/ Source Used: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VERIS Community Database (VCDB), Kaggle-sourced processed dataset  |  </a:t>
            </a: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10,229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incident records  |  </a:t>
            </a: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</a:t>
            </a:r>
            <a:endParaRPr lang="en-US" sz="1600" dirty="0"/>
          </a:p>
        </p:txBody>
      </p:sp>
      <p:sp>
        <p:nvSpPr>
          <p:cNvPr id="8" name="mile-rail"/>
          <p:cNvSpPr/>
          <p:nvPr/>
        </p:nvSpPr>
        <p:spPr>
          <a:xfrm>
            <a:off x="1905000" y="4191000"/>
            <a:ext cx="124460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</p:sp>
      <p:sp>
        <p:nvSpPr>
          <p:cNvPr id="9" name="mile-node-1"/>
          <p:cNvSpPr/>
          <p:nvPr/>
        </p:nvSpPr>
        <p:spPr>
          <a:xfrm>
            <a:off x="1676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mile-num-1"/>
          <p:cNvSpPr/>
          <p:nvPr/>
        </p:nvSpPr>
        <p:spPr>
          <a:xfrm>
            <a:off x="1676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mile-node-2"/>
          <p:cNvSpPr/>
          <p:nvPr/>
        </p:nvSpPr>
        <p:spPr>
          <a:xfrm>
            <a:off x="5740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mile-num-2"/>
          <p:cNvSpPr/>
          <p:nvPr/>
        </p:nvSpPr>
        <p:spPr>
          <a:xfrm>
            <a:off x="5740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mile-node-3"/>
          <p:cNvSpPr/>
          <p:nvPr/>
        </p:nvSpPr>
        <p:spPr>
          <a:xfrm>
            <a:off x="9804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mile-num-3"/>
          <p:cNvSpPr/>
          <p:nvPr/>
        </p:nvSpPr>
        <p:spPr>
          <a:xfrm>
            <a:off x="9804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mile-node-4"/>
          <p:cNvSpPr/>
          <p:nvPr/>
        </p:nvSpPr>
        <p:spPr>
          <a:xfrm>
            <a:off x="13868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6" name="mile-num-4"/>
          <p:cNvSpPr/>
          <p:nvPr/>
        </p:nvSpPr>
        <p:spPr>
          <a:xfrm>
            <a:off x="13868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mile-card-1"/>
          <p:cNvSpPr/>
          <p:nvPr/>
        </p:nvSpPr>
        <p:spPr>
          <a:xfrm>
            <a:off x="889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18" name="mile-card-1-text"/>
          <p:cNvSpPr/>
          <p:nvPr/>
        </p:nvSpPr>
        <p:spPr>
          <a:xfrm>
            <a:off x="1117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and baseline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incident schema, dimensions, relationships, and baseline record count.</a:t>
            </a:r>
            <a:endParaRPr lang="en-US" sz="1600" dirty="0"/>
          </a:p>
        </p:txBody>
      </p:sp>
      <p:sp>
        <p:nvSpPr>
          <p:cNvPr id="19" name="mile-card-2"/>
          <p:cNvSpPr/>
          <p:nvPr/>
        </p:nvSpPr>
        <p:spPr>
          <a:xfrm>
            <a:off x="4445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0" name="mile-card-2-text"/>
          <p:cNvSpPr/>
          <p:nvPr/>
        </p:nvSpPr>
        <p:spPr>
          <a:xfrm>
            <a:off x="4673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standardize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missing months, motives, actor varieties, countries, and inconsistent values while preserving records.</a:t>
            </a:r>
            <a:endParaRPr lang="en-US" sz="1600" dirty="0"/>
          </a:p>
        </p:txBody>
      </p:sp>
      <p:sp>
        <p:nvSpPr>
          <p:cNvPr id="21" name="mile-card-3"/>
          <p:cNvSpPr/>
          <p:nvPr/>
        </p:nvSpPr>
        <p:spPr>
          <a:xfrm>
            <a:off x="8001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2" name="mile-card-3-text"/>
          <p:cNvSpPr/>
          <p:nvPr/>
        </p:nvSpPr>
        <p:spPr>
          <a:xfrm>
            <a:off x="8229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and model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type casting, filtering, conditional columns, custom columns, removal, and renaming.</a:t>
            </a:r>
            <a:endParaRPr lang="en-US" sz="1600" dirty="0"/>
          </a:p>
        </p:txBody>
      </p:sp>
      <p:sp>
        <p:nvSpPr>
          <p:cNvPr id="23" name="mile-card-4"/>
          <p:cNvSpPr/>
          <p:nvPr/>
        </p:nvSpPr>
        <p:spPr>
          <a:xfrm>
            <a:off x="11557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4" name="mile-card-4-text"/>
          <p:cNvSpPr/>
          <p:nvPr/>
        </p:nvSpPr>
        <p:spPr>
          <a:xfrm>
            <a:off x="11785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and publish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dashboard pages for analytics, threat analysis, actor intelligence, vulnerability, severity, and patterns.</a:t>
            </a:r>
            <a:endParaRPr lang="en-US" sz="1600" dirty="0"/>
          </a:p>
        </p:txBody>
      </p:sp>
      <p:sp>
        <p:nvSpPr>
          <p:cNvPr id="25" name="mile-footer"/>
          <p:cNvSpPr/>
          <p:nvPr/>
        </p:nvSpPr>
        <p:spPr>
          <a:xfrm>
            <a:off x="1117600" y="7772400"/>
            <a:ext cx="14020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A9C1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milestone was validated against the next step in the workflow to keep the project repeatable and audit-friendly.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l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chal-title"/>
          <p:cNvSpPr/>
          <p:nvPr/>
        </p:nvSpPr>
        <p:spPr>
          <a:xfrm>
            <a:off x="1117600" y="939800"/>
            <a:ext cx="990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Faced and Resolutions</a:t>
            </a:r>
            <a:endParaRPr lang="en-US" sz="3000" dirty="0"/>
          </a:p>
        </p:txBody>
      </p:sp>
      <p:sp>
        <p:nvSpPr>
          <p:cNvPr id="4" name="chal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focused on preserving data integrity while making the incident landscape easier to interpret and act upon.</a:t>
            </a:r>
            <a:endParaRPr lang="en-US" sz="1700" dirty="0"/>
          </a:p>
        </p:txBody>
      </p:sp>
      <p:sp>
        <p:nvSpPr>
          <p:cNvPr id="5" name="chal-card-1"/>
          <p:cNvSpPr/>
          <p:nvPr/>
        </p:nvSpPr>
        <p:spPr>
          <a:xfrm>
            <a:off x="889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6" name="chal-head-1"/>
          <p:cNvSpPr/>
          <p:nvPr/>
        </p:nvSpPr>
        <p:spPr>
          <a:xfrm>
            <a:off x="889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7" name="chal-title-1"/>
          <p:cNvSpPr/>
          <p:nvPr/>
        </p:nvSpPr>
        <p:spPr>
          <a:xfrm>
            <a:off x="1193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High-volume, noisy data</a:t>
            </a:r>
            <a:endParaRPr lang="en-US" sz="2000" dirty="0"/>
          </a:p>
        </p:txBody>
      </p:sp>
      <p:sp>
        <p:nvSpPr>
          <p:cNvPr id="8" name="chal-body-1"/>
          <p:cNvSpPr/>
          <p:nvPr/>
        </p:nvSpPr>
        <p:spPr>
          <a:xfrm>
            <a:off x="1193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 of records and many categorical fields made direct interpretation difficult.</a:t>
            </a:r>
            <a:endParaRPr lang="en-US" sz="1700" dirty="0"/>
          </a:p>
        </p:txBody>
      </p:sp>
      <p:sp>
        <p:nvSpPr>
          <p:cNvPr id="9" name="chal-divider-1"/>
          <p:cNvSpPr/>
          <p:nvPr/>
        </p:nvSpPr>
        <p:spPr>
          <a:xfrm>
            <a:off x="1193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0" name="chal-res-1"/>
          <p:cNvSpPr/>
          <p:nvPr/>
        </p:nvSpPr>
        <p:spPr>
          <a:xfrm>
            <a:off x="1193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Structure the data into consistent threat dimensions and summarize it through dashboards.</a:t>
            </a:r>
            <a:endParaRPr lang="en-US" sz="1700" dirty="0"/>
          </a:p>
        </p:txBody>
      </p:sp>
      <p:sp>
        <p:nvSpPr>
          <p:cNvPr id="11" name="chal-card-2"/>
          <p:cNvSpPr/>
          <p:nvPr/>
        </p:nvSpPr>
        <p:spPr>
          <a:xfrm>
            <a:off x="5842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12" name="chal-head-2"/>
          <p:cNvSpPr/>
          <p:nvPr/>
        </p:nvSpPr>
        <p:spPr>
          <a:xfrm>
            <a:off x="5842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13" name="chal-title-2"/>
          <p:cNvSpPr/>
          <p:nvPr/>
        </p:nvSpPr>
        <p:spPr>
          <a:xfrm>
            <a:off x="6146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Missing and ambiguous values</a:t>
            </a:r>
            <a:endParaRPr lang="en-US" sz="2000" dirty="0"/>
          </a:p>
        </p:txBody>
      </p:sp>
      <p:sp>
        <p:nvSpPr>
          <p:cNvPr id="14" name="chal-body-2"/>
          <p:cNvSpPr/>
          <p:nvPr/>
        </p:nvSpPr>
        <p:spPr>
          <a:xfrm>
            <a:off x="6146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Nulls and values such as “Unknown” and “NA” could break trend lines, maps, and comparisons.</a:t>
            </a:r>
            <a:endParaRPr lang="en-US" sz="1700" dirty="0"/>
          </a:p>
        </p:txBody>
      </p:sp>
      <p:sp>
        <p:nvSpPr>
          <p:cNvPr id="15" name="chal-divider-2"/>
          <p:cNvSpPr/>
          <p:nvPr/>
        </p:nvSpPr>
        <p:spPr>
          <a:xfrm>
            <a:off x="6146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6" name="chal-res-2"/>
          <p:cNvSpPr/>
          <p:nvPr/>
        </p:nvSpPr>
        <p:spPr>
          <a:xfrm>
            <a:off x="6146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Replace or regroup values into explicit analytical categories such as “Undetermined Motive” and “Undetermined Source”.</a:t>
            </a:r>
            <a:endParaRPr lang="en-US" sz="1700" dirty="0"/>
          </a:p>
        </p:txBody>
      </p:sp>
      <p:sp>
        <p:nvSpPr>
          <p:cNvPr id="17" name="chal-card-3"/>
          <p:cNvSpPr/>
          <p:nvPr/>
        </p:nvSpPr>
        <p:spPr>
          <a:xfrm>
            <a:off x="10795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18" name="chal-head-3"/>
          <p:cNvSpPr/>
          <p:nvPr/>
        </p:nvSpPr>
        <p:spPr>
          <a:xfrm>
            <a:off x="10795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19" name="chal-title-3"/>
          <p:cNvSpPr/>
          <p:nvPr/>
        </p:nvSpPr>
        <p:spPr>
          <a:xfrm>
            <a:off x="11099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Slow manual investigation</a:t>
            </a:r>
            <a:endParaRPr lang="en-US" sz="2000" dirty="0"/>
          </a:p>
        </p:txBody>
      </p:sp>
      <p:sp>
        <p:nvSpPr>
          <p:cNvPr id="20" name="chal-body-3"/>
          <p:cNvSpPr/>
          <p:nvPr/>
        </p:nvSpPr>
        <p:spPr>
          <a:xfrm>
            <a:off x="11099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logs were difficult to compare across time, geography, actors, and assets.</a:t>
            </a:r>
            <a:endParaRPr lang="en-US" sz="1700" dirty="0"/>
          </a:p>
        </p:txBody>
      </p:sp>
      <p:sp>
        <p:nvSpPr>
          <p:cNvPr id="21" name="chal-divider-3"/>
          <p:cNvSpPr/>
          <p:nvPr/>
        </p:nvSpPr>
        <p:spPr>
          <a:xfrm>
            <a:off x="11099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22" name="chal-res-3"/>
          <p:cNvSpPr/>
          <p:nvPr/>
        </p:nvSpPr>
        <p:spPr>
          <a:xfrm>
            <a:off x="11099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repeatable transformations and interactive filters to shorten the path from event to insight.</a:t>
            </a:r>
            <a:endParaRPr lang="en-US" sz="1700" dirty="0"/>
          </a:p>
        </p:txBody>
      </p:sp>
      <p:sp>
        <p:nvSpPr>
          <p:cNvPr id="23" name="chal-footer"/>
          <p:cNvSpPr/>
          <p:nvPr/>
        </p:nvSpPr>
        <p:spPr>
          <a:xfrm>
            <a:off x="1117600" y="7696200"/>
            <a:ext cx="14020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preserve the record, clarify the category, accelerate the decision.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arn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learn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Learnings &amp; Skills Acquired</a:t>
            </a:r>
            <a:endParaRPr lang="en-US" sz="3000" dirty="0"/>
          </a:p>
        </p:txBody>
      </p:sp>
      <p:sp>
        <p:nvSpPr>
          <p:cNvPr id="4" name="learn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strengthened both hands-on analytics capability and the ability to communicate technical findings clearly.</a:t>
            </a:r>
            <a:endParaRPr lang="en-US" sz="1700" dirty="0"/>
          </a:p>
        </p:txBody>
      </p:sp>
      <p:sp>
        <p:nvSpPr>
          <p:cNvPr id="5" name="learn-tech-card"/>
          <p:cNvSpPr/>
          <p:nvPr/>
        </p:nvSpPr>
        <p:spPr>
          <a:xfrm>
            <a:off x="889000" y="2159000"/>
            <a:ext cx="6858000" cy="4445000"/>
          </a:xfrm>
          <a:prstGeom prst="roundRect">
            <a:avLst>
              <a:gd name="adj" fmla="val 285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learn-tech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63800"/>
            <a:ext cx="431800" cy="431800"/>
          </a:xfrm>
          <a:prstGeom prst="rect">
            <a:avLst/>
          </a:prstGeom>
        </p:spPr>
      </p:pic>
      <p:sp>
        <p:nvSpPr>
          <p:cNvPr id="7" name="learn-tech-head"/>
          <p:cNvSpPr/>
          <p:nvPr/>
        </p:nvSpPr>
        <p:spPr>
          <a:xfrm>
            <a:off x="1854200" y="24130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Skills</a:t>
            </a:r>
            <a:endParaRPr lang="en-US" sz="2400" dirty="0"/>
          </a:p>
        </p:txBody>
      </p:sp>
      <p:sp>
        <p:nvSpPr>
          <p:cNvPr id="8" name="learn-tech-rule"/>
          <p:cNvSpPr/>
          <p:nvPr/>
        </p:nvSpPr>
        <p:spPr>
          <a:xfrm>
            <a:off x="1219200" y="3073400"/>
            <a:ext cx="60198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9" name="learn-tech-list"/>
          <p:cNvSpPr/>
          <p:nvPr/>
        </p:nvSpPr>
        <p:spPr>
          <a:xfrm>
            <a:off x="1244600" y="33528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incident analytics using VCDB / VERIS-style dimensions.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type casting, filtering, conditional columns, and feature preparation.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 ETL and repeatable transformation workflows.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design using charts, maps, KPI cards, timelines, and comparative views.</a:t>
            </a:r>
            <a:endParaRPr lang="en-US" sz="1700" dirty="0"/>
          </a:p>
        </p:txBody>
      </p:sp>
      <p:sp>
        <p:nvSpPr>
          <p:cNvPr id="10" name="learn-soft-card"/>
          <p:cNvSpPr/>
          <p:nvPr/>
        </p:nvSpPr>
        <p:spPr>
          <a:xfrm>
            <a:off x="8509000" y="2159000"/>
            <a:ext cx="6858000" cy="4445000"/>
          </a:xfrm>
          <a:prstGeom prst="roundRect">
            <a:avLst>
              <a:gd name="adj" fmla="val 285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1" name="learn-soft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2463800"/>
            <a:ext cx="431800" cy="431800"/>
          </a:xfrm>
          <a:prstGeom prst="rect">
            <a:avLst/>
          </a:prstGeom>
        </p:spPr>
      </p:pic>
      <p:sp>
        <p:nvSpPr>
          <p:cNvPr id="12" name="learn-soft-head"/>
          <p:cNvSpPr/>
          <p:nvPr/>
        </p:nvSpPr>
        <p:spPr>
          <a:xfrm>
            <a:off x="9474200" y="24130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Skills</a:t>
            </a:r>
            <a:endParaRPr lang="en-US" sz="2400" dirty="0"/>
          </a:p>
        </p:txBody>
      </p:sp>
      <p:sp>
        <p:nvSpPr>
          <p:cNvPr id="13" name="learn-soft-rule"/>
          <p:cNvSpPr/>
          <p:nvPr/>
        </p:nvSpPr>
        <p:spPr>
          <a:xfrm>
            <a:off x="8839200" y="3073400"/>
            <a:ext cx="60198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4" name="learn-soft-list"/>
          <p:cNvSpPr/>
          <p:nvPr/>
        </p:nvSpPr>
        <p:spPr>
          <a:xfrm>
            <a:off x="8864600" y="33528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complex analysis into clear business-facing narratives.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structured problem solving and validate data quality before interpretation.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workflows, present findings, and communicate with stakeholders.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technical choices to the usefulness of the final security insight.</a:t>
            </a:r>
            <a:endParaRPr lang="en-US" sz="1700" dirty="0"/>
          </a:p>
        </p:txBody>
      </p:sp>
      <p:sp>
        <p:nvSpPr>
          <p:cNvPr id="15" name="learn-insight"/>
          <p:cNvSpPr/>
          <p:nvPr/>
        </p:nvSpPr>
        <p:spPr>
          <a:xfrm>
            <a:off x="889000" y="7175500"/>
            <a:ext cx="14478000" cy="889000"/>
          </a:xfrm>
          <a:prstGeom prst="roundRect">
            <a:avLst>
              <a:gd name="adj" fmla="val 11429"/>
            </a:avLst>
          </a:prstGeom>
          <a:solidFill>
            <a:srgbClr val="10334B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6" name="learn-insight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7404100"/>
            <a:ext cx="406400" cy="406400"/>
          </a:xfrm>
          <a:prstGeom prst="rect">
            <a:avLst/>
          </a:prstGeom>
        </p:spPr>
      </p:pic>
      <p:sp>
        <p:nvSpPr>
          <p:cNvPr id="17" name="learn-insight-text"/>
          <p:cNvSpPr/>
          <p:nvPr/>
        </p:nvSpPr>
        <p:spPr>
          <a:xfrm>
            <a:off x="1803400" y="7175500"/>
            <a:ext cx="13004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learning: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strongest learning was connecting data preparation decisions directly to the quality and usefulness of the final security insight.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ture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future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future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can grow from a validated dashboard workflow into a continuously learning security intelligence system.</a:t>
            </a:r>
            <a:endParaRPr lang="en-US" sz="1700" dirty="0"/>
          </a:p>
        </p:txBody>
      </p:sp>
      <p:sp>
        <p:nvSpPr>
          <p:cNvPr id="5" name="future-card-1"/>
          <p:cNvSpPr/>
          <p:nvPr/>
        </p:nvSpPr>
        <p:spPr>
          <a:xfrm>
            <a:off x="889000" y="2159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6" name="future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2603500"/>
            <a:ext cx="457200" cy="457200"/>
          </a:xfrm>
          <a:prstGeom prst="rect">
            <a:avLst/>
          </a:prstGeom>
        </p:spPr>
      </p:pic>
      <p:sp>
        <p:nvSpPr>
          <p:cNvPr id="7" name="future-head-1"/>
          <p:cNvSpPr/>
          <p:nvPr/>
        </p:nvSpPr>
        <p:spPr>
          <a:xfrm>
            <a:off x="1905000" y="2349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ingestion</a:t>
            </a:r>
            <a:endParaRPr lang="en-US" sz="2000" dirty="0"/>
          </a:p>
        </p:txBody>
      </p:sp>
      <p:sp>
        <p:nvSpPr>
          <p:cNvPr id="8" name="future-desc-1"/>
          <p:cNvSpPr/>
          <p:nvPr/>
        </p:nvSpPr>
        <p:spPr>
          <a:xfrm>
            <a:off x="1905000" y="2844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streaming security logs and refresh the dashboards continuously.</a:t>
            </a:r>
            <a:endParaRPr lang="en-US" sz="1600" dirty="0"/>
          </a:p>
        </p:txBody>
      </p:sp>
      <p:sp>
        <p:nvSpPr>
          <p:cNvPr id="9" name="future-card-2"/>
          <p:cNvSpPr/>
          <p:nvPr/>
        </p:nvSpPr>
        <p:spPr>
          <a:xfrm>
            <a:off x="8255000" y="2159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0" name="future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603500"/>
            <a:ext cx="457200" cy="457200"/>
          </a:xfrm>
          <a:prstGeom prst="rect">
            <a:avLst/>
          </a:prstGeom>
        </p:spPr>
      </p:pic>
      <p:sp>
        <p:nvSpPr>
          <p:cNvPr id="11" name="future-head-2"/>
          <p:cNvSpPr/>
          <p:nvPr/>
        </p:nvSpPr>
        <p:spPr>
          <a:xfrm>
            <a:off x="9271000" y="2349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risk scoring</a:t>
            </a:r>
            <a:endParaRPr lang="en-US" sz="2000" dirty="0"/>
          </a:p>
        </p:txBody>
      </p:sp>
      <p:sp>
        <p:nvSpPr>
          <p:cNvPr id="12" name="future-desc-2"/>
          <p:cNvSpPr/>
          <p:nvPr/>
        </p:nvSpPr>
        <p:spPr>
          <a:xfrm>
            <a:off x="9271000" y="2844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machine-learning models to estimate incident severity and likely impact.</a:t>
            </a:r>
            <a:endParaRPr lang="en-US" sz="1600" dirty="0"/>
          </a:p>
        </p:txBody>
      </p:sp>
      <p:sp>
        <p:nvSpPr>
          <p:cNvPr id="13" name="future-card-3"/>
          <p:cNvSpPr/>
          <p:nvPr/>
        </p:nvSpPr>
        <p:spPr>
          <a:xfrm>
            <a:off x="889000" y="3937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4" name="future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00" y="4381500"/>
            <a:ext cx="457200" cy="457200"/>
          </a:xfrm>
          <a:prstGeom prst="rect">
            <a:avLst/>
          </a:prstGeom>
        </p:spPr>
      </p:pic>
      <p:sp>
        <p:nvSpPr>
          <p:cNvPr id="15" name="future-head-3"/>
          <p:cNvSpPr/>
          <p:nvPr/>
        </p:nvSpPr>
        <p:spPr>
          <a:xfrm>
            <a:off x="1905000" y="4127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alerting</a:t>
            </a:r>
            <a:endParaRPr lang="en-US" sz="2000" dirty="0"/>
          </a:p>
        </p:txBody>
      </p:sp>
      <p:sp>
        <p:nvSpPr>
          <p:cNvPr id="16" name="future-desc-3"/>
          <p:cNvSpPr/>
          <p:nvPr/>
        </p:nvSpPr>
        <p:spPr>
          <a:xfrm>
            <a:off x="1905000" y="4622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notifications when unusual actor, motive, asset, or time patterns emerge.</a:t>
            </a:r>
            <a:endParaRPr lang="en-US" sz="1600" dirty="0"/>
          </a:p>
        </p:txBody>
      </p:sp>
      <p:sp>
        <p:nvSpPr>
          <p:cNvPr id="17" name="future-card-4"/>
          <p:cNvSpPr/>
          <p:nvPr/>
        </p:nvSpPr>
        <p:spPr>
          <a:xfrm>
            <a:off x="8255000" y="3937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8" name="future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381500"/>
            <a:ext cx="457200" cy="457200"/>
          </a:xfrm>
          <a:prstGeom prst="rect">
            <a:avLst/>
          </a:prstGeom>
        </p:spPr>
      </p:pic>
      <p:sp>
        <p:nvSpPr>
          <p:cNvPr id="19" name="future-head-4"/>
          <p:cNvSpPr/>
          <p:nvPr/>
        </p:nvSpPr>
        <p:spPr>
          <a:xfrm>
            <a:off x="9271000" y="4127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Drill-through investigation</a:t>
            </a:r>
            <a:endParaRPr lang="en-US" sz="2000" dirty="0"/>
          </a:p>
        </p:txBody>
      </p:sp>
      <p:sp>
        <p:nvSpPr>
          <p:cNvPr id="20" name="future-desc-4"/>
          <p:cNvSpPr/>
          <p:nvPr/>
        </p:nvSpPr>
        <p:spPr>
          <a:xfrm>
            <a:off x="9271000" y="4622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dashboard summaries to incident-level evidence and response playbooks.</a:t>
            </a:r>
            <a:endParaRPr lang="en-US" sz="1600" dirty="0"/>
          </a:p>
        </p:txBody>
      </p:sp>
      <p:sp>
        <p:nvSpPr>
          <p:cNvPr id="21" name="future-insight-rule"/>
          <p:cNvSpPr/>
          <p:nvPr/>
        </p:nvSpPr>
        <p:spPr>
          <a:xfrm>
            <a:off x="889000" y="6223000"/>
            <a:ext cx="14478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22" name="future-insight-head"/>
          <p:cNvSpPr/>
          <p:nvPr/>
        </p:nvSpPr>
        <p:spPr>
          <a:xfrm>
            <a:off x="889000" y="64135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23" name="future-insight-1"/>
          <p:cNvSpPr/>
          <p:nvPr/>
        </p:nvSpPr>
        <p:spPr>
          <a:xfrm>
            <a:off x="88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Clean categorical structure is essential for reliable threat comparisons.</a:t>
            </a:r>
            <a:endParaRPr lang="en-US" sz="1600" dirty="0"/>
          </a:p>
        </p:txBody>
      </p:sp>
      <p:sp>
        <p:nvSpPr>
          <p:cNvPr id="24" name="future-insight-2"/>
          <p:cNvSpPr/>
          <p:nvPr/>
        </p:nvSpPr>
        <p:spPr>
          <a:xfrm>
            <a:off x="596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 repeatable ETL workflow improves trust, refreshability, and auditability.</a:t>
            </a:r>
            <a:endParaRPr lang="en-US" sz="1600" dirty="0"/>
          </a:p>
        </p:txBody>
      </p:sp>
      <p:sp>
        <p:nvSpPr>
          <p:cNvPr id="25" name="future-insight-3"/>
          <p:cNvSpPr/>
          <p:nvPr/>
        </p:nvSpPr>
        <p:spPr>
          <a:xfrm>
            <a:off x="1104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The most useful dashboard helps an analyst decide what to investigate next.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conc-title"/>
          <p:cNvSpPr/>
          <p:nvPr/>
        </p:nvSpPr>
        <p:spPr>
          <a:xfrm>
            <a:off x="1117600" y="939800"/>
            <a:ext cx="660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conc-headline"/>
          <p:cNvSpPr/>
          <p:nvPr/>
        </p:nvSpPr>
        <p:spPr>
          <a:xfrm>
            <a:off x="1117600" y="1714500"/>
            <a:ext cx="1384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Threat Incident Analytics and Security Visualization Framework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converted a large, noisy cybersecurity dataset into structured threat intelligence and actionable dashboard views.</a:t>
            </a:r>
            <a:endParaRPr lang="en-US" sz="2000" dirty="0"/>
          </a:p>
        </p:txBody>
      </p:sp>
      <p:sp>
        <p:nvSpPr>
          <p:cNvPr id="5" name="conc-card-1"/>
          <p:cNvSpPr/>
          <p:nvPr/>
        </p:nvSpPr>
        <p:spPr>
          <a:xfrm>
            <a:off x="889000" y="2794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6" name="conc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238500"/>
            <a:ext cx="431800" cy="431800"/>
          </a:xfrm>
          <a:prstGeom prst="rect">
            <a:avLst/>
          </a:prstGeom>
        </p:spPr>
      </p:pic>
      <p:sp>
        <p:nvSpPr>
          <p:cNvPr id="7" name="conc-text-1"/>
          <p:cNvSpPr/>
          <p:nvPr/>
        </p:nvSpPr>
        <p:spPr>
          <a:xfrm>
            <a:off x="1879600" y="3022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impact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Strengthened practical capability in cybersecurity analytics, Power Query, data preparation, and visualization.</a:t>
            </a:r>
            <a:endParaRPr lang="en-US" sz="1700" dirty="0"/>
          </a:p>
        </p:txBody>
      </p:sp>
      <p:sp>
        <p:nvSpPr>
          <p:cNvPr id="8" name="conc-card-2"/>
          <p:cNvSpPr/>
          <p:nvPr/>
        </p:nvSpPr>
        <p:spPr>
          <a:xfrm>
            <a:off x="8255000" y="2794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9" name="conc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238500"/>
            <a:ext cx="431800" cy="431800"/>
          </a:xfrm>
          <a:prstGeom prst="rect">
            <a:avLst/>
          </a:prstGeom>
        </p:spPr>
      </p:pic>
      <p:sp>
        <p:nvSpPr>
          <p:cNvPr id="10" name="conc-text-2"/>
          <p:cNvSpPr/>
          <p:nvPr/>
        </p:nvSpPr>
        <p:spPr>
          <a:xfrm>
            <a:off x="9245600" y="3022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impact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a clean and modeled dataset ready for machine-learning experiments and interactive reporting.</a:t>
            </a:r>
            <a:endParaRPr lang="en-US" sz="1700" dirty="0"/>
          </a:p>
        </p:txBody>
      </p:sp>
      <p:sp>
        <p:nvSpPr>
          <p:cNvPr id="11" name="conc-card-3"/>
          <p:cNvSpPr/>
          <p:nvPr/>
        </p:nvSpPr>
        <p:spPr>
          <a:xfrm>
            <a:off x="889000" y="4572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2" name="conc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5016500"/>
            <a:ext cx="431800" cy="431800"/>
          </a:xfrm>
          <a:prstGeom prst="rect">
            <a:avLst/>
          </a:prstGeom>
        </p:spPr>
      </p:pic>
      <p:sp>
        <p:nvSpPr>
          <p:cNvPr id="13" name="conc-text-3"/>
          <p:cNvSpPr/>
          <p:nvPr/>
        </p:nvSpPr>
        <p:spPr>
          <a:xfrm>
            <a:off x="1879600" y="4800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relevance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how organizations can move from raw telemetry to faster, evidence-based security decisions.</a:t>
            </a:r>
            <a:endParaRPr lang="en-US" sz="1700" dirty="0"/>
          </a:p>
        </p:txBody>
      </p:sp>
      <p:sp>
        <p:nvSpPr>
          <p:cNvPr id="14" name="conc-card-4"/>
          <p:cNvSpPr/>
          <p:nvPr/>
        </p:nvSpPr>
        <p:spPr>
          <a:xfrm>
            <a:off x="8255000" y="4572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5" name="conc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5200" y="5016500"/>
            <a:ext cx="431800" cy="431800"/>
          </a:xfrm>
          <a:prstGeom prst="rect">
            <a:avLst/>
          </a:prstGeom>
        </p:spPr>
      </p:pic>
      <p:sp>
        <p:nvSpPr>
          <p:cNvPr id="16" name="conc-text-4"/>
          <p:cNvSpPr/>
          <p:nvPr/>
        </p:nvSpPr>
        <p:spPr>
          <a:xfrm>
            <a:off x="9245600" y="4800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conclusion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bridges data engineering, threat analysis, and security communication in one coherent workflow.</a:t>
            </a:r>
            <a:endParaRPr lang="en-US" sz="1700" dirty="0"/>
          </a:p>
        </p:txBody>
      </p:sp>
      <p:sp>
        <p:nvSpPr>
          <p:cNvPr id="17" name="conc-impact"/>
          <p:cNvSpPr/>
          <p:nvPr/>
        </p:nvSpPr>
        <p:spPr>
          <a:xfrm>
            <a:off x="889000" y="6921500"/>
            <a:ext cx="14478000" cy="1143000"/>
          </a:xfrm>
          <a:prstGeom prst="roundRect">
            <a:avLst>
              <a:gd name="adj" fmla="val 8889"/>
            </a:avLst>
          </a:prstGeom>
          <a:solidFill>
            <a:srgbClr val="10334B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conc-impact-text"/>
          <p:cNvSpPr/>
          <p:nvPr/>
        </p:nvSpPr>
        <p:spPr>
          <a:xfrm>
            <a:off x="1219200" y="6921500"/>
            <a:ext cx="1381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impact: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project turns raw, chaotic incident records into a trusted analytical foundation for faster, more accurate mitigation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k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ack-title"/>
          <p:cNvSpPr/>
          <p:nvPr/>
        </p:nvSpPr>
        <p:spPr>
          <a:xfrm>
            <a:off x="1117600" y="939800"/>
            <a:ext cx="1092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Acknowledgements and References</a:t>
            </a:r>
            <a:endParaRPr lang="en-US" sz="3000" dirty="0"/>
          </a:p>
        </p:txBody>
      </p:sp>
      <p:sp>
        <p:nvSpPr>
          <p:cNvPr id="4" name="ack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to the people, program, and public resources that supported this project.</a:t>
            </a:r>
            <a:endParaRPr lang="en-US" sz="1700" dirty="0"/>
          </a:p>
        </p:txBody>
      </p:sp>
      <p:sp>
        <p:nvSpPr>
          <p:cNvPr id="5" name="ack-card"/>
          <p:cNvSpPr/>
          <p:nvPr/>
        </p:nvSpPr>
        <p:spPr>
          <a:xfrm>
            <a:off x="889000" y="2159000"/>
            <a:ext cx="6858000" cy="4699000"/>
          </a:xfrm>
          <a:prstGeom prst="roundRect">
            <a:avLst>
              <a:gd name="adj" fmla="val 270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ack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2514600"/>
            <a:ext cx="457200" cy="457200"/>
          </a:xfrm>
          <a:prstGeom prst="rect">
            <a:avLst/>
          </a:prstGeom>
        </p:spPr>
      </p:pic>
      <p:sp>
        <p:nvSpPr>
          <p:cNvPr id="7" name="ack-head"/>
          <p:cNvSpPr/>
          <p:nvPr/>
        </p:nvSpPr>
        <p:spPr>
          <a:xfrm>
            <a:off x="1905000" y="2463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Acknowledgements</a:t>
            </a:r>
            <a:endParaRPr lang="en-US" sz="2400" dirty="0"/>
          </a:p>
        </p:txBody>
      </p:sp>
      <p:sp>
        <p:nvSpPr>
          <p:cNvPr id="8" name="ack-rule"/>
          <p:cNvSpPr/>
          <p:nvPr/>
        </p:nvSpPr>
        <p:spPr>
          <a:xfrm>
            <a:off x="1244600" y="3149600"/>
            <a:ext cx="5969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9" name="ack-body"/>
          <p:cNvSpPr/>
          <p:nvPr/>
        </p:nvSpPr>
        <p:spPr>
          <a:xfrm>
            <a:off x="1244600" y="34925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would like to express my heartfelt gratitude to:</a:t>
            </a:r>
            <a:endParaRPr lang="en-US" sz="1800" dirty="0"/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Springboard</a:t>
            </a: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the Virtual Internship 7.0 program.</a:t>
            </a:r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dirty="0">
                <a:solidFill>
                  <a:srgbClr val="D7E2EC"/>
                </a:solidFill>
                <a:latin typeface="Inter" pitchFamily="34" charset="0"/>
                <a:ea typeface="Inter" pitchFamily="34" charset="-122"/>
              </a:rPr>
              <a:t>Team Members: Vennela, Subhasree, Twinkle </a:t>
            </a:r>
            <a:endParaRPr lang="en-US" sz="1800" dirty="0"/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 NityaSree</a:t>
            </a: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guidance and encouragement.</a:t>
            </a:r>
            <a:endParaRPr lang="en-US" sz="1800" dirty="0"/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reviewers, peers, and everyone who supported the completion of this work.</a:t>
            </a:r>
            <a:endParaRPr lang="en-US" sz="1800" dirty="0"/>
          </a:p>
        </p:txBody>
      </p:sp>
      <p:sp>
        <p:nvSpPr>
          <p:cNvPr id="10" name="ref-card"/>
          <p:cNvSpPr/>
          <p:nvPr/>
        </p:nvSpPr>
        <p:spPr>
          <a:xfrm>
            <a:off x="8255000" y="2159000"/>
            <a:ext cx="6858000" cy="4699000"/>
          </a:xfrm>
          <a:prstGeom prst="roundRect">
            <a:avLst>
              <a:gd name="adj" fmla="val 270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1" name="ref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514600"/>
            <a:ext cx="457200" cy="457200"/>
          </a:xfrm>
          <a:prstGeom prst="rect">
            <a:avLst/>
          </a:prstGeom>
        </p:spPr>
      </p:pic>
      <p:sp>
        <p:nvSpPr>
          <p:cNvPr id="12" name="ref-head"/>
          <p:cNvSpPr/>
          <p:nvPr/>
        </p:nvSpPr>
        <p:spPr>
          <a:xfrm>
            <a:off x="9271000" y="2463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13" name="ref-rule"/>
          <p:cNvSpPr/>
          <p:nvPr/>
        </p:nvSpPr>
        <p:spPr>
          <a:xfrm>
            <a:off x="8610600" y="3149600"/>
            <a:ext cx="5969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4" name="ref-body"/>
          <p:cNvSpPr/>
          <p:nvPr/>
        </p:nvSpPr>
        <p:spPr>
          <a:xfrm>
            <a:off x="8610600" y="3454400"/>
            <a:ext cx="59436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VERIS Framework — The VERIS Community Database (VCDB)</a:t>
            </a:r>
            <a:endParaRPr lang="en-US" sz="1500" dirty="0"/>
          </a:p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— VCDB Dataset</a:t>
            </a:r>
            <a:endParaRPr lang="en-US" sz="1500" dirty="0"/>
          </a:p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Learn — What is Power Query?</a:t>
            </a:r>
            <a:endParaRPr lang="en-US" sz="1500" dirty="0"/>
          </a:p>
        </p:txBody>
      </p:sp>
      <p:sp>
        <p:nvSpPr>
          <p:cNvPr id="15" name="ack-footer-rule"/>
          <p:cNvSpPr/>
          <p:nvPr/>
        </p:nvSpPr>
        <p:spPr>
          <a:xfrm>
            <a:off x="1117600" y="7683500"/>
            <a:ext cx="14020800" cy="9144"/>
          </a:xfrm>
          <a:prstGeom prst="line">
            <a:avLst/>
          </a:prstGeom>
          <a:ln w="12700">
            <a:solidFill>
              <a:srgbClr val="1C5068"/>
            </a:solidFill>
            <a:prstDash val="solid"/>
          </a:ln>
        </p:spPr>
      </p:sp>
      <p:sp>
        <p:nvSpPr>
          <p:cNvPr id="16" name="ack-footer"/>
          <p:cNvSpPr/>
          <p:nvPr/>
        </p:nvSpPr>
        <p:spPr>
          <a:xfrm>
            <a:off x="1117600" y="7823200"/>
            <a:ext cx="140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-header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y-internship"/>
          <p:cNvSpPr/>
          <p:nvPr/>
        </p:nvSpPr>
        <p:spPr>
          <a:xfrm>
            <a:off x="660400" y="381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</a:t>
            </a:r>
            <a:endParaRPr lang="en-US" sz="2000" dirty="0"/>
          </a:p>
        </p:txBody>
      </p:sp>
      <p:sp>
        <p:nvSpPr>
          <p:cNvPr id="4" name="ty-org"/>
          <p:cNvSpPr/>
          <p:nvPr/>
        </p:nvSpPr>
        <p:spPr>
          <a:xfrm>
            <a:off x="9652000" y="355600"/>
            <a:ext cx="5943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800" dirty="0">
                <a:solidFill>
                  <a:srgbClr val="1E6F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 |  Springboard</a:t>
            </a:r>
            <a:endParaRPr lang="en-US" sz="1800" dirty="0"/>
          </a:p>
        </p:txBody>
      </p:sp>
      <p:sp>
        <p:nvSpPr>
          <p:cNvPr id="5" name="ty-glow"/>
          <p:cNvSpPr/>
          <p:nvPr/>
        </p:nvSpPr>
        <p:spPr>
          <a:xfrm>
            <a:off x="1092200" y="2032000"/>
            <a:ext cx="2540000" cy="2540000"/>
          </a:xfrm>
          <a:prstGeom prst="ellipse">
            <a:avLst/>
          </a:prstGeom>
          <a:solidFill>
            <a:srgbClr val="00E5FF">
              <a:alpha val="2000"/>
            </a:srgbClr>
          </a:solidFill>
          <a:ln/>
        </p:spPr>
      </p:sp>
      <p:sp>
        <p:nvSpPr>
          <p:cNvPr id="6" name="ty-main"/>
          <p:cNvSpPr/>
          <p:nvPr/>
        </p:nvSpPr>
        <p:spPr>
          <a:xfrm>
            <a:off x="2032000" y="3022600"/>
            <a:ext cx="12192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y-underline"/>
          <p:cNvSpPr/>
          <p:nvPr/>
        </p:nvSpPr>
        <p:spPr>
          <a:xfrm>
            <a:off x="6794500" y="4445000"/>
            <a:ext cx="2667000" cy="9144"/>
          </a:xfrm>
          <a:prstGeom prst="line">
            <a:avLst/>
          </a:prstGeom>
          <a:ln w="50800">
            <a:solidFill>
              <a:srgbClr val="00E5FF"/>
            </a:solidFill>
            <a:prstDash val="solid"/>
          </a:ln>
        </p:spPr>
      </p:sp>
      <p:sp>
        <p:nvSpPr>
          <p:cNvPr id="8" name="ty-project"/>
          <p:cNvSpPr/>
          <p:nvPr/>
        </p:nvSpPr>
        <p:spPr>
          <a:xfrm>
            <a:off x="2286000" y="4965357"/>
            <a:ext cx="1168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3200" b="1" dirty="0">
                <a:solidFill>
                  <a:schemeClr val="bg1">
                    <a:lumMod val="75000"/>
                  </a:schemeClr>
                </a:solidFill>
                <a:latin typeface="Agency FB" panose="020B0503020202020204" pitchFamily="34" charset="0"/>
              </a:rPr>
              <a:t>Cyber Threat Analytics Platform with Incident Visualization System</a:t>
            </a:r>
          </a:p>
        </p:txBody>
      </p:sp>
      <p:sp>
        <p:nvSpPr>
          <p:cNvPr id="9" name="ty-mentor"/>
          <p:cNvSpPr/>
          <p:nvPr/>
        </p:nvSpPr>
        <p:spPr>
          <a:xfrm>
            <a:off x="2286000" y="5562600"/>
            <a:ext cx="1168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1203</Words>
  <Application>Microsoft Office PowerPoint</Application>
  <PresentationFormat>Custom</PresentationFormat>
  <Paragraphs>139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</vt:lpstr>
      <vt:lpstr>Algerian</vt:lpstr>
      <vt:lpstr>Arial</vt:lpstr>
      <vt:lpstr>Agency FB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Threat Incident Analytics and Security Visualization Framework</dc:title>
  <dc:subject>Advanced Threat Incident Analytics and Security Visualization Framework</dc:subject>
  <dc:creator>Manus</dc:creator>
  <cp:lastModifiedBy>jai krishna</cp:lastModifiedBy>
  <cp:revision>5</cp:revision>
  <dcterms:created xsi:type="dcterms:W3CDTF">2026-08-16T15:59:45Z</dcterms:created>
  <dcterms:modified xsi:type="dcterms:W3CDTF">2026-08-19T13:41:40Z</dcterms:modified>
</cp:coreProperties>
</file>